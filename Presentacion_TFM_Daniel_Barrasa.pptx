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a:t>
            </a:r>
            <a:r>
              <a:rPr lang="en-US" sz="4400" b="0" u="none" strike="noStrike">
                <a:solidFill>
                  <a:schemeClr val="dk1"/>
                </a:solidFill>
                <a:effectLst/>
                <a:uFillTx/>
                <a:latin typeface="Calibri"/>
              </a:rPr>
              <a:t>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044C7EA-B30F-468F-B5D5-478D20386C61}"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948EA5C-8E7D-4BE4-87AB-D06DEF772A3C}"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C3EA6BE-67BF-4625-84E2-2A195BFA6290}"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24BAE29-270D-4871-8759-61ECA27FA347}"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6C7FDC4-FE64-41CB-972B-39E8DC5EAC05}"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038A231-3DC2-472D-B076-1C31482676EC}"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18CA5DA-D4F6-4693-A56D-66ED4B3DCAFA}"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009F93-D8B2-425F-BA3D-A508BBF2E535}"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CB0DC38-A339-475E-8E86-E0314D90B677}"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Pulse para editar el formato del texto de título</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Pulse para editar el formato de texto del esquema</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Segundo nivel del esquema</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Tercer nivel del esquema</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Cuarto nivel del esquema</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Quinto nivel del esquema</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Sexto nivel del esquema</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Séptimo nivel del esquema</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701FEF0-D005-402A-82F1-C5FBB64EA8C5}"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Pulse para editar el formato de texto del esquema</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Segundo nivel del esquema</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Tercer nivel del esquema</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Cuarto nivel del esquema</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Quinto nivel del esquema</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Sexto nivel del esquema</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Séptimo nivel del esquema</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&lt;fecha/hora&gt;</a:t>
            </a:r>
            <a:endParaRPr lang="es-E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s-ES" sz="1400" b="0" u="none" strike="noStrike">
                <a:solidFill>
                  <a:srgbClr val="000000"/>
                </a:solidFill>
                <a:effectLst/>
                <a:uFillTx/>
                <a:latin typeface="Times New Roman"/>
              </a:defRPr>
            </a:lvl1pPr>
          </a:lstStyle>
          <a:p>
            <a:pPr indent="0" algn="ctr">
              <a:buNone/>
            </a:pPr>
            <a:r>
              <a:rPr lang="es-ES" sz="1400" b="0" u="none" strike="noStrike">
                <a:solidFill>
                  <a:srgbClr val="000000"/>
                </a:solidFill>
                <a:effectLst/>
                <a:uFillTx/>
                <a:latin typeface="Times New Roman"/>
              </a:rPr>
              <a:t>&lt;pie de página&gt;</a:t>
            </a:r>
            <a:endParaRPr lang="es-E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1D36F9C-2297-4861-9743-B81D8B02435E}" type="slidenum">
              <a:rPr lang="en-US" sz="1200" b="0" u="none" strike="noStrike">
                <a:solidFill>
                  <a:schemeClr val="dk1">
                    <a:tint val="75000"/>
                  </a:schemeClr>
                </a:solidFill>
                <a:effectLst/>
                <a:uFillTx/>
                <a:latin typeface="Calibri"/>
              </a:rPr>
              <a:t>&lt;número&gt;</a:t>
            </a:fld>
            <a:endParaRPr lang="es-E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hyperlink" Target="https://mi-estanteria-digital.streamlit.app/" TargetMode="External"/><Relationship Id="rId2"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3A5F"/>
        </a:solidFill>
      </p:bgPr>
    </p:bg>
    <p:spTree>
      <p:nvGrpSpPr>
        <p:cNvPr id="1" name=""/>
        <p:cNvGrpSpPr/>
        <p:nvPr/>
      </p:nvGrpSpPr>
      <p:grpSpPr>
        <a:xfrm>
          <a:off x="0" y="0"/>
          <a:ext cx="0" cy="0"/>
          <a:chOff x="0" y="0"/>
          <a:chExt cx="0" cy="0"/>
        </a:xfrm>
      </p:grpSpPr>
      <p:sp>
        <p:nvSpPr>
          <p:cNvPr id="61" name="TextBox 1"/>
          <p:cNvSpPr/>
          <p:nvPr/>
        </p:nvSpPr>
        <p:spPr>
          <a:xfrm>
            <a:off x="914400" y="2011680"/>
            <a:ext cx="10362600" cy="2087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400"/>
              </a:spcAft>
            </a:pPr>
            <a:r>
              <a:rPr lang="es-ES" sz="4600" b="0" u="none" strike="noStrike">
                <a:solidFill>
                  <a:srgbClr val="FFFFFF"/>
                </a:solidFill>
                <a:effectLst/>
                <a:uFillTx/>
                <a:latin typeface="Arial"/>
              </a:rPr>
              <a:t>Mi Estantería Digital</a:t>
            </a:r>
            <a:endParaRPr lang="es-ES" sz="4600" b="0" u="none" strike="noStrike">
              <a:solidFill>
                <a:srgbClr val="FFFFFF"/>
              </a:solidFill>
              <a:effectLst/>
              <a:uFillTx/>
              <a:latin typeface="Arial"/>
            </a:endParaRPr>
          </a:p>
          <a:p>
            <a:pPr defTabSz="457200">
              <a:lnSpc>
                <a:spcPct val="100000"/>
              </a:lnSpc>
              <a:spcAft>
                <a:spcPts val="2801"/>
              </a:spcAft>
            </a:pPr>
            <a:r>
              <a:rPr lang="es-ES" sz="2000" b="0" u="none" strike="noStrike">
                <a:solidFill>
                  <a:srgbClr val="B8860B"/>
                </a:solidFill>
                <a:effectLst/>
                <a:uFillTx/>
                <a:latin typeface="Arial"/>
              </a:rPr>
              <a:t>Trabajo Fin de Máster</a:t>
            </a:r>
            <a:endParaRPr lang="es-ES" sz="2000" b="0" u="none" strike="noStrike">
              <a:solidFill>
                <a:srgbClr val="FFFFFF"/>
              </a:solidFill>
              <a:effectLst/>
              <a:uFillTx/>
              <a:latin typeface="Arial"/>
            </a:endParaRPr>
          </a:p>
          <a:p>
            <a:pPr defTabSz="457200">
              <a:lnSpc>
                <a:spcPct val="100000"/>
              </a:lnSpc>
            </a:pPr>
            <a:r>
              <a:rPr lang="es-ES" sz="1500" b="0" u="none" strike="noStrike">
                <a:solidFill>
                  <a:srgbClr val="FFFFFF"/>
                </a:solidFill>
                <a:effectLst/>
                <a:uFillTx/>
                <a:latin typeface="Arial"/>
              </a:rPr>
              <a:t>Alumno: Daniel Barrasa García</a:t>
            </a:r>
            <a:br>
              <a:rPr sz="1500"/>
            </a:br>
            <a:r>
              <a:rPr lang="es-ES" sz="1500" b="0" u="none" strike="noStrike">
                <a:solidFill>
                  <a:srgbClr val="FFFFFF"/>
                </a:solidFill>
                <a:effectLst/>
                <a:uFillTx/>
                <a:latin typeface="Arial"/>
              </a:rPr>
              <a:t>Programa: Máster de Desarrollo con Inteligencia Artificial</a:t>
            </a:r>
            <a:endParaRPr lang="es-ES" sz="15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62" name="TextBox 1"/>
          <p:cNvSpPr/>
          <p:nvPr/>
        </p:nvSpPr>
        <p:spPr>
          <a:xfrm>
            <a:off x="731520" y="365760"/>
            <a:ext cx="107283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Acceso de Evaluación y Credenciales del Sistema</a:t>
            </a:r>
            <a:endParaRPr lang="es-ES" sz="2800" b="0" u="none" strike="noStrike">
              <a:solidFill>
                <a:srgbClr val="000000"/>
              </a:solidFill>
              <a:effectLst/>
              <a:uFillTx/>
              <a:latin typeface="Arial"/>
            </a:endParaRPr>
          </a:p>
        </p:txBody>
      </p:sp>
      <p:sp>
        <p:nvSpPr>
          <p:cNvPr id="63"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64" name="Rounded Rectangle 3"/>
          <p:cNvSpPr/>
          <p:nvPr/>
        </p:nvSpPr>
        <p:spPr>
          <a:xfrm>
            <a:off x="731520" y="1463040"/>
            <a:ext cx="5120280" cy="47545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65" name="TextBox 4"/>
          <p:cNvSpPr/>
          <p:nvPr/>
        </p:nvSpPr>
        <p:spPr>
          <a:xfrm>
            <a:off x="914400" y="1645920"/>
            <a:ext cx="4754520" cy="2144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Enlaces e Inscripción</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Dirección web del despliegue oficial en la nube:</a:t>
            </a:r>
            <a:br>
              <a:rPr sz="1100"/>
            </a:br>
            <a:r>
              <a:rPr lang="es-ES" sz="1100" b="0" u="none" strike="noStrike">
                <a:solidFill>
                  <a:srgbClr val="28323C"/>
                </a:solidFill>
                <a:effectLst/>
                <a:uFillTx/>
                <a:latin typeface="Arial"/>
              </a:rPr>
              <a:t>  </a:t>
            </a:r>
            <a:r>
              <a:rPr lang="es-ES" sz="1100" b="0" u="none" strike="noStrike">
                <a:solidFill>
                  <a:srgbClr val="28323C"/>
                </a:solidFill>
                <a:effectLst/>
                <a:uFillTx/>
                <a:latin typeface="Arial"/>
                <a:hlinkClick r:id="rId1"/>
              </a:rPr>
              <a:t>https://mi-estanteria-digital.streamlit.app/</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Correo electrónico de inscripción del alumno:</a:t>
            </a:r>
            <a:br>
              <a:rPr sz="1100"/>
            </a:br>
            <a:r>
              <a:rPr lang="es-ES" sz="1100" b="0" u="none" strike="noStrike">
                <a:solidFill>
                  <a:srgbClr val="28323C"/>
                </a:solidFill>
                <a:effectLst/>
                <a:uFillTx/>
                <a:latin typeface="Arial"/>
              </a:rPr>
              <a:t>  danibarrasa74@gmail.com</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Parámetros de la cuenta de pruebas predeterminada:</a:t>
            </a:r>
            <a:br>
              <a:rPr sz="1100"/>
            </a:br>
            <a:r>
              <a:rPr lang="es-ES" sz="1100" b="0" u="none" strike="noStrike">
                <a:solidFill>
                  <a:srgbClr val="28323C"/>
                </a:solidFill>
                <a:effectLst/>
                <a:uFillTx/>
                <a:latin typeface="Arial"/>
              </a:rPr>
              <a:t>  Se especifican en las diapositivas de soporte del TFM de forma confidencial.</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Estado de inicialización: El ecosistema arranca de forma autónoma con estos accesos estables y analíticas precargadas en la estantería.</a:t>
            </a:r>
            <a:endParaRPr lang="es-ES" sz="1100" b="0" u="none" strike="noStrike">
              <a:solidFill>
                <a:srgbClr val="000000"/>
              </a:solidFill>
              <a:effectLst/>
              <a:uFillTx/>
              <a:latin typeface="Arial"/>
            </a:endParaRPr>
          </a:p>
        </p:txBody>
      </p:sp>
      <p:sp>
        <p:nvSpPr>
          <p:cNvPr id="66" name="Rounded Rectangle 5"/>
          <p:cNvSpPr/>
          <p:nvPr/>
        </p:nvSpPr>
        <p:spPr>
          <a:xfrm>
            <a:off x="6309360" y="1463040"/>
            <a:ext cx="5120280" cy="47545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67" name="TextBox 6"/>
          <p:cNvSpPr/>
          <p:nvPr/>
        </p:nvSpPr>
        <p:spPr>
          <a:xfrm>
            <a:off x="6492240" y="1645920"/>
            <a:ext cx="4754520" cy="2067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Advertencia de Infraestructura</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Regeneración de Streamlit: Al alojarse en la capa gratuita de Streamlit Cloud, el servidor entra en hibernación por inactividad y elimina los archivos locales generados.</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Mitigación mediante Data Seeding: Se ha programado un sistema de semillero de datos indestructible. Si la aplicación detecta un reinicio del contenedor, levanta en el acto este perfil de usuario junto con los doce libros de muestra para la auditoría.</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Comodidad de evaluación: Permite una revisión directa e inmediata sin requerir registros manuales previos por parte del docente.</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68" name="TextBox 1"/>
          <p:cNvSpPr/>
          <p:nvPr/>
        </p:nvSpPr>
        <p:spPr>
          <a:xfrm>
            <a:off x="731520" y="365760"/>
            <a:ext cx="107283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Naturaleza del Proyecto y Enfoque PMV</a:t>
            </a:r>
            <a:endParaRPr lang="es-ES" sz="2800" b="0" u="none" strike="noStrike">
              <a:solidFill>
                <a:srgbClr val="000000"/>
              </a:solidFill>
              <a:effectLst/>
              <a:uFillTx/>
              <a:latin typeface="Arial"/>
            </a:endParaRPr>
          </a:p>
        </p:txBody>
      </p:sp>
      <p:sp>
        <p:nvSpPr>
          <p:cNvPr id="69"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70" name="Rounded Rectangle 3"/>
          <p:cNvSpPr/>
          <p:nvPr/>
        </p:nvSpPr>
        <p:spPr>
          <a:xfrm>
            <a:off x="731520" y="1463040"/>
            <a:ext cx="10728360" cy="13712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71" name="TextBox 4"/>
          <p:cNvSpPr/>
          <p:nvPr/>
        </p:nvSpPr>
        <p:spPr>
          <a:xfrm>
            <a:off x="914400" y="1645920"/>
            <a:ext cx="10362600" cy="740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Metodología Asistida por IA</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Desarrollo basado en el concepto de Producto Mínimo Viable (PMV). Se explotó la Inteligencia Artificial mediante ingeniería de prompts avanzada para acelerar la refactorización de código defensivo, optimizar el aislamiento de transacciones SQL y diseñar las reglas algorítmicas de transición automática.</a:t>
            </a:r>
            <a:endParaRPr lang="es-ES" sz="1100" b="0" u="none" strike="noStrike">
              <a:solidFill>
                <a:srgbClr val="000000"/>
              </a:solidFill>
              <a:effectLst/>
              <a:uFillTx/>
              <a:latin typeface="Arial"/>
            </a:endParaRPr>
          </a:p>
        </p:txBody>
      </p:sp>
      <p:sp>
        <p:nvSpPr>
          <p:cNvPr id="72" name="Rounded Rectangle 5"/>
          <p:cNvSpPr/>
          <p:nvPr/>
        </p:nvSpPr>
        <p:spPr>
          <a:xfrm>
            <a:off x="731520" y="3017520"/>
            <a:ext cx="10728360" cy="15541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73" name="TextBox 6"/>
          <p:cNvSpPr/>
          <p:nvPr/>
        </p:nvSpPr>
        <p:spPr>
          <a:xfrm>
            <a:off x="914400" y="3200400"/>
            <a:ext cx="10362600" cy="740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Objetivos Estratégicos del Prototipo</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Validar las dinámicas lógicas de una plataforma de lectura compartida (control de accesos, altas comunes por ISBN, transiciones reactivas de progreso y sumatorios analíticos de rendimiento lector).</a:t>
            </a:r>
            <a:endParaRPr lang="es-ES" sz="1100" b="0" u="none" strike="noStrike">
              <a:solidFill>
                <a:srgbClr val="000000"/>
              </a:solidFill>
              <a:effectLst/>
              <a:uFillTx/>
              <a:latin typeface="Arial"/>
            </a:endParaRPr>
          </a:p>
        </p:txBody>
      </p:sp>
      <p:sp>
        <p:nvSpPr>
          <p:cNvPr id="74" name="Rounded Rectangle 7"/>
          <p:cNvSpPr/>
          <p:nvPr/>
        </p:nvSpPr>
        <p:spPr>
          <a:xfrm>
            <a:off x="731520" y="4754880"/>
            <a:ext cx="10728360" cy="146268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75" name="TextBox 8"/>
          <p:cNvSpPr/>
          <p:nvPr/>
        </p:nvSpPr>
        <p:spPr>
          <a:xfrm>
            <a:off x="914400" y="4937760"/>
            <a:ext cx="10362600" cy="740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Criterio de Desarrollo de Software</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Concentración absoluta de esfuerzos en la robustez algorítmica y los mecanismos defensivos de seguridad perimetral, postergando infraestructuras de almacenamiento comercial o escalabilidad masiva para fases de negocio posteriores.</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76" name="TextBox 1"/>
          <p:cNvSpPr/>
          <p:nvPr/>
        </p:nvSpPr>
        <p:spPr>
          <a:xfrm>
            <a:off x="731520" y="153720"/>
            <a:ext cx="10728360" cy="943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Arquitectura Modular del Software (Separación de Responsabilidades)</a:t>
            </a:r>
            <a:endParaRPr lang="es-ES" sz="2800" b="0" u="none" strike="noStrike">
              <a:solidFill>
                <a:srgbClr val="000000"/>
              </a:solidFill>
              <a:effectLst/>
              <a:uFillTx/>
              <a:latin typeface="Arial"/>
            </a:endParaRPr>
          </a:p>
        </p:txBody>
      </p:sp>
      <p:sp>
        <p:nvSpPr>
          <p:cNvPr id="77"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78" name="Rounded Rectangle 3"/>
          <p:cNvSpPr/>
          <p:nvPr/>
        </p:nvSpPr>
        <p:spPr>
          <a:xfrm>
            <a:off x="731520" y="1463040"/>
            <a:ext cx="5120280" cy="219420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79" name="TextBox 4"/>
          <p:cNvSpPr/>
          <p:nvPr/>
        </p:nvSpPr>
        <p:spPr>
          <a:xfrm>
            <a:off x="914400" y="1645920"/>
            <a:ext cx="4754520" cy="908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Capa de Presentación (app.py)</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Control de la interfaz gráfica, diseño reactivo mediante inyección controlada de estilos avanzados CSS y gestión centralizada del estado de la sesión de navegación web.</a:t>
            </a:r>
            <a:endParaRPr lang="es-ES" sz="1100" b="0" u="none" strike="noStrike">
              <a:solidFill>
                <a:srgbClr val="000000"/>
              </a:solidFill>
              <a:effectLst/>
              <a:uFillTx/>
              <a:latin typeface="Arial"/>
            </a:endParaRPr>
          </a:p>
        </p:txBody>
      </p:sp>
      <p:sp>
        <p:nvSpPr>
          <p:cNvPr id="80" name="Rounded Rectangle 5"/>
          <p:cNvSpPr/>
          <p:nvPr/>
        </p:nvSpPr>
        <p:spPr>
          <a:xfrm>
            <a:off x="6309360" y="1463040"/>
            <a:ext cx="5120280" cy="219420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81" name="TextBox 6"/>
          <p:cNvSpPr/>
          <p:nvPr/>
        </p:nvSpPr>
        <p:spPr>
          <a:xfrm>
            <a:off x="6492240" y="1645920"/>
            <a:ext cx="4754520" cy="908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Módulo de Identidades (auth_manager.py)</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Gestión e inicio de sesión de usuarios, validaciones tipográficas rigurosas alineadas con las recomendaciones OWASP y procesamiento seguro de hashes.</a:t>
            </a:r>
            <a:endParaRPr lang="es-ES" sz="1100" b="0" u="none" strike="noStrike">
              <a:solidFill>
                <a:srgbClr val="000000"/>
              </a:solidFill>
              <a:effectLst/>
              <a:uFillTx/>
              <a:latin typeface="Arial"/>
            </a:endParaRPr>
          </a:p>
        </p:txBody>
      </p:sp>
      <p:sp>
        <p:nvSpPr>
          <p:cNvPr id="82" name="Rounded Rectangle 7"/>
          <p:cNvSpPr/>
          <p:nvPr/>
        </p:nvSpPr>
        <p:spPr>
          <a:xfrm>
            <a:off x="731520" y="3931920"/>
            <a:ext cx="5120280" cy="22856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83" name="TextBox 8"/>
          <p:cNvSpPr/>
          <p:nvPr/>
        </p:nvSpPr>
        <p:spPr>
          <a:xfrm>
            <a:off x="914400" y="4114800"/>
            <a:ext cx="4754520" cy="908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Gestor de Persistencia (database_manager.py)</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Aislamiento total de transacciones e hilos de conexión SQL con la base de datos relacional. Centraliza las consultas de estadísticas, desgloses y el mecanismo de semillero de datos.</a:t>
            </a:r>
            <a:endParaRPr lang="es-ES" sz="1100" b="0" u="none" strike="noStrike">
              <a:solidFill>
                <a:srgbClr val="000000"/>
              </a:solidFill>
              <a:effectLst/>
              <a:uFillTx/>
              <a:latin typeface="Arial"/>
            </a:endParaRPr>
          </a:p>
        </p:txBody>
      </p:sp>
      <p:sp>
        <p:nvSpPr>
          <p:cNvPr id="84" name="Rounded Rectangle 9"/>
          <p:cNvSpPr/>
          <p:nvPr/>
        </p:nvSpPr>
        <p:spPr>
          <a:xfrm>
            <a:off x="6309360" y="3931920"/>
            <a:ext cx="5120280" cy="22856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85" name="TextBox 10"/>
          <p:cNvSpPr/>
          <p:nvPr/>
        </p:nvSpPr>
        <p:spPr>
          <a:xfrm>
            <a:off x="6492240" y="4114800"/>
            <a:ext cx="4754520" cy="908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Componente Transversal (utils.py)</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Lógica temporal de fechas, algoritmos de validación matemática por suma ponderada para el control de ISBN (10 y 13) y saneamiento binario estricto de subidas multimedia.</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86" name="TextBox 1"/>
          <p:cNvSpPr/>
          <p:nvPr/>
        </p:nvSpPr>
        <p:spPr>
          <a:xfrm>
            <a:off x="731520" y="365760"/>
            <a:ext cx="107283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Diseño de la Base de Datos (Modelo Relacional Robustecido)</a:t>
            </a:r>
            <a:endParaRPr lang="es-ES" sz="2800" b="0" u="none" strike="noStrike">
              <a:solidFill>
                <a:srgbClr val="000000"/>
              </a:solidFill>
              <a:effectLst/>
              <a:uFillTx/>
              <a:latin typeface="Arial"/>
            </a:endParaRPr>
          </a:p>
        </p:txBody>
      </p:sp>
      <p:sp>
        <p:nvSpPr>
          <p:cNvPr id="87"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88" name="Rounded Rectangle 3"/>
          <p:cNvSpPr/>
          <p:nvPr/>
        </p:nvSpPr>
        <p:spPr>
          <a:xfrm>
            <a:off x="731520" y="1371600"/>
            <a:ext cx="10728360" cy="100548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89" name="TextBox 4"/>
          <p:cNvSpPr/>
          <p:nvPr/>
        </p:nvSpPr>
        <p:spPr>
          <a:xfrm>
            <a:off x="914400" y="1554480"/>
            <a:ext cx="10362600" cy="740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Motor y Justificación Teórica de Diseño</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Uso de SQLite integrado localmente. Justificación: Se habilitó el control activo de claves foráneas y una normalización estricta para asegurar la consistencia del catálogo global e impedir de forma algorítmica la corrupción de inventario por títulos duplicados.</a:t>
            </a:r>
            <a:endParaRPr lang="es-ES" sz="1100" b="0" u="none" strike="noStrike">
              <a:solidFill>
                <a:srgbClr val="000000"/>
              </a:solidFill>
              <a:effectLst/>
              <a:uFillTx/>
              <a:latin typeface="Arial"/>
            </a:endParaRPr>
          </a:p>
        </p:txBody>
      </p:sp>
      <p:sp>
        <p:nvSpPr>
          <p:cNvPr id="90" name="Rounded Rectangle 5"/>
          <p:cNvSpPr/>
          <p:nvPr/>
        </p:nvSpPr>
        <p:spPr>
          <a:xfrm>
            <a:off x="731520" y="2560320"/>
            <a:ext cx="3291480" cy="36572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91" name="TextBox 6"/>
          <p:cNvSpPr/>
          <p:nvPr/>
        </p:nvSpPr>
        <p:spPr>
          <a:xfrm>
            <a:off x="914400" y="2743200"/>
            <a:ext cx="2925720" cy="1244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Tabla usuarios</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Entidad independiente encargada de resguardar de forma segura las credenciales de acceso (hashes criptográficos con la librería nativa bcrypt) y las fechas de alta.</a:t>
            </a:r>
            <a:endParaRPr lang="es-ES" sz="1100" b="0" u="none" strike="noStrike">
              <a:solidFill>
                <a:srgbClr val="000000"/>
              </a:solidFill>
              <a:effectLst/>
              <a:uFillTx/>
              <a:latin typeface="Arial"/>
            </a:endParaRPr>
          </a:p>
        </p:txBody>
      </p:sp>
      <p:sp>
        <p:nvSpPr>
          <p:cNvPr id="92" name="Rounded Rectangle 7"/>
          <p:cNvSpPr/>
          <p:nvPr/>
        </p:nvSpPr>
        <p:spPr>
          <a:xfrm>
            <a:off x="4389120" y="2560320"/>
            <a:ext cx="3291480" cy="36572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93" name="TextBox 8"/>
          <p:cNvSpPr/>
          <p:nvPr/>
        </p:nvSpPr>
        <p:spPr>
          <a:xfrm>
            <a:off x="4572000" y="2743200"/>
            <a:ext cx="2925720" cy="1244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Tabla libros_comunes</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Catálogo global indexado mediante restricciones de unicidad sobre los formatos independientes ISBN-10 e ISBN-13, blindando la integridad de las fichas de las obras.</a:t>
            </a:r>
            <a:endParaRPr lang="es-ES" sz="1100" b="0" u="none" strike="noStrike">
              <a:solidFill>
                <a:srgbClr val="000000"/>
              </a:solidFill>
              <a:effectLst/>
              <a:uFillTx/>
              <a:latin typeface="Arial"/>
            </a:endParaRPr>
          </a:p>
        </p:txBody>
      </p:sp>
      <p:sp>
        <p:nvSpPr>
          <p:cNvPr id="94" name="Rounded Rectangle 9"/>
          <p:cNvSpPr/>
          <p:nvPr/>
        </p:nvSpPr>
        <p:spPr>
          <a:xfrm>
            <a:off x="8046720" y="2560320"/>
            <a:ext cx="3291480" cy="36572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95" name="TextBox 10"/>
          <p:cNvSpPr/>
          <p:nvPr/>
        </p:nvSpPr>
        <p:spPr>
          <a:xfrm>
            <a:off x="8229600" y="2743200"/>
            <a:ext cx="2925720" cy="1244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Tabla biblioteca_usuario</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Tabla asociativa muchos a muchos. Asocia de forma exclusiva a cada usuario con sus lecturas, preservando estados de progreso, marcas cronológicas e interrupciones sin alterar el catálogo máster.</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96" name="TextBox 1"/>
          <p:cNvSpPr/>
          <p:nvPr/>
        </p:nvSpPr>
        <p:spPr>
          <a:xfrm>
            <a:off x="731520" y="365760"/>
            <a:ext cx="107283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Seguridad Nativa y Mitigación de Vulnerabilidades (OWASP)</a:t>
            </a:r>
            <a:endParaRPr lang="es-ES" sz="2800" b="0" u="none" strike="noStrike">
              <a:solidFill>
                <a:srgbClr val="000000"/>
              </a:solidFill>
              <a:effectLst/>
              <a:uFillTx/>
              <a:latin typeface="Arial"/>
            </a:endParaRPr>
          </a:p>
        </p:txBody>
      </p:sp>
      <p:sp>
        <p:nvSpPr>
          <p:cNvPr id="97"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98" name="Rounded Rectangle 3"/>
          <p:cNvSpPr/>
          <p:nvPr/>
        </p:nvSpPr>
        <p:spPr>
          <a:xfrm>
            <a:off x="731520" y="1463040"/>
            <a:ext cx="10728360" cy="10969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99" name="TextBox 4"/>
          <p:cNvSpPr/>
          <p:nvPr/>
        </p:nvSpPr>
        <p:spPr>
          <a:xfrm>
            <a:off x="914400" y="1645920"/>
            <a:ext cx="10362600" cy="740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Protección Criptográfica</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Hashing adaptativo de contraseñas utilizando el algoritmo estándar seguro bcrypt ejecutado de manera totalmente nativa en el servidor, eliminando dependencias obsoletas.</a:t>
            </a:r>
            <a:endParaRPr lang="es-ES" sz="1100" b="0" u="none" strike="noStrike">
              <a:solidFill>
                <a:srgbClr val="000000"/>
              </a:solidFill>
              <a:effectLst/>
              <a:uFillTx/>
              <a:latin typeface="Arial"/>
            </a:endParaRPr>
          </a:p>
        </p:txBody>
      </p:sp>
      <p:sp>
        <p:nvSpPr>
          <p:cNvPr id="100" name="Rounded Rectangle 5"/>
          <p:cNvSpPr/>
          <p:nvPr/>
        </p:nvSpPr>
        <p:spPr>
          <a:xfrm>
            <a:off x="731520" y="2651760"/>
            <a:ext cx="10728360" cy="10969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01" name="TextBox 6"/>
          <p:cNvSpPr/>
          <p:nvPr/>
        </p:nvSpPr>
        <p:spPr>
          <a:xfrm>
            <a:off x="914400" y="2834640"/>
            <a:ext cx="10362600" cy="740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Contramedidas contra Ataques de Fuerza Bruta</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Bloqueo temporal del acceso en memoria durante un periodo de 120 segundos tras acumular un total de cinco fallos de credenciales consecutivos en la misma sesión web.</a:t>
            </a:r>
            <a:endParaRPr lang="es-ES" sz="1100" b="0" u="none" strike="noStrike">
              <a:solidFill>
                <a:srgbClr val="000000"/>
              </a:solidFill>
              <a:effectLst/>
              <a:uFillTx/>
              <a:latin typeface="Arial"/>
            </a:endParaRPr>
          </a:p>
        </p:txBody>
      </p:sp>
      <p:sp>
        <p:nvSpPr>
          <p:cNvPr id="102" name="Rounded Rectangle 7"/>
          <p:cNvSpPr/>
          <p:nvPr/>
        </p:nvSpPr>
        <p:spPr>
          <a:xfrm>
            <a:off x="731520" y="3840480"/>
            <a:ext cx="10728360" cy="10969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03" name="TextBox 8"/>
          <p:cNvSpPr/>
          <p:nvPr/>
        </p:nvSpPr>
        <p:spPr>
          <a:xfrm>
            <a:off x="914400" y="4023360"/>
            <a:ext cx="10362600" cy="57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Integridad de Inventario y Catálogo</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Validación algorítmica rigurosa de los códigos de barra editoriales mediante operaciones matemáticas de suma ponderada y aritmética de módulos (10 y 11).</a:t>
            </a:r>
            <a:endParaRPr lang="es-ES" sz="1100" b="0" u="none" strike="noStrike">
              <a:solidFill>
                <a:srgbClr val="000000"/>
              </a:solidFill>
              <a:effectLst/>
              <a:uFillTx/>
              <a:latin typeface="Arial"/>
            </a:endParaRPr>
          </a:p>
        </p:txBody>
      </p:sp>
      <p:sp>
        <p:nvSpPr>
          <p:cNvPr id="104" name="Rounded Rectangle 9"/>
          <p:cNvSpPr/>
          <p:nvPr/>
        </p:nvSpPr>
        <p:spPr>
          <a:xfrm>
            <a:off x="731520" y="5029200"/>
            <a:ext cx="10728360" cy="118836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05" name="TextBox 10"/>
          <p:cNvSpPr/>
          <p:nvPr/>
        </p:nvSpPr>
        <p:spPr>
          <a:xfrm>
            <a:off x="914400" y="5212080"/>
            <a:ext cx="10362600" cy="740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Saneamiento de Archivos Multimedia</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El cargador de portadas audita la firma binaria interna del archivo con Pillow para neutralizar inyecciones de código malicioso camuflado y restringe las rutas para anular ataques de salto de directorio (Path Traversal).</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106" name="TextBox 1"/>
          <p:cNvSpPr/>
          <p:nvPr/>
        </p:nvSpPr>
        <p:spPr>
          <a:xfrm>
            <a:off x="731520" y="365760"/>
            <a:ext cx="107283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Estrategia de Pruebas y Validación del Software (Testing)</a:t>
            </a:r>
            <a:endParaRPr lang="es-ES" sz="2800" b="0" u="none" strike="noStrike">
              <a:solidFill>
                <a:srgbClr val="000000"/>
              </a:solidFill>
              <a:effectLst/>
              <a:uFillTx/>
              <a:latin typeface="Arial"/>
            </a:endParaRPr>
          </a:p>
        </p:txBody>
      </p:sp>
      <p:sp>
        <p:nvSpPr>
          <p:cNvPr id="107"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108" name="Rounded Rectangle 3"/>
          <p:cNvSpPr/>
          <p:nvPr/>
        </p:nvSpPr>
        <p:spPr>
          <a:xfrm>
            <a:off x="731520" y="1463040"/>
            <a:ext cx="5120280" cy="47545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09" name="TextBox 4"/>
          <p:cNvSpPr/>
          <p:nvPr/>
        </p:nvSpPr>
        <p:spPr>
          <a:xfrm>
            <a:off x="914400" y="1645920"/>
            <a:ext cx="4754520" cy="1900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Pruebas Unitarias Automatizadas</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Validación de Reglas de Negocio: Diseño de baterías de pruebas para certificar el correcto funcionamiento de la aritmética de módulos encargada de admitir o rechazar las solicitudes de alta por ISBN.</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Control de Concurrencia: Validación del comportamiento de la base de datos relacional frente a hilos de ejecución simultáneos en Streamlit.</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Integridad Temporal: Verificación de consistencia lógica en las marcas cronológicas e inyecciones de fechas automáticas tras permutar los estados del libro.</a:t>
            </a:r>
            <a:endParaRPr lang="es-ES" sz="1100" b="0" u="none" strike="noStrike">
              <a:solidFill>
                <a:srgbClr val="000000"/>
              </a:solidFill>
              <a:effectLst/>
              <a:uFillTx/>
              <a:latin typeface="Arial"/>
            </a:endParaRPr>
          </a:p>
        </p:txBody>
      </p:sp>
      <p:sp>
        <p:nvSpPr>
          <p:cNvPr id="110" name="Rounded Rectangle 5"/>
          <p:cNvSpPr/>
          <p:nvPr/>
        </p:nvSpPr>
        <p:spPr>
          <a:xfrm>
            <a:off x="6309360" y="1463040"/>
            <a:ext cx="5120280" cy="47545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11" name="TextBox 6"/>
          <p:cNvSpPr/>
          <p:nvPr/>
        </p:nvSpPr>
        <p:spPr>
          <a:xfrm>
            <a:off x="6492240" y="1645920"/>
            <a:ext cx="4754520" cy="1900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Validación de Contramedidas</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Auditoría de Bloqueo: Simulación automatizada de ataques de fuerza bruta para comprobar que el disparador congele la autenticación exactamente a los 120 segundos teóricos.</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Pruebas de Inyección de Rutas: Evaluación de los filtros defensivos de saneamiento binario aplicados sobre las imágenes subidas.</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Robustez Perimetral: Certificación de que el sistema de recuperación segura deniegue la operación si el alias y el correo introducidos no pertenecen al mismo registro.</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112" name="TextBox 1"/>
          <p:cNvSpPr/>
          <p:nvPr/>
        </p:nvSpPr>
        <p:spPr>
          <a:xfrm>
            <a:off x="731520" y="365760"/>
            <a:ext cx="107283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Limitaciones de Infraestructura y Métricas de Rendimiento</a:t>
            </a:r>
            <a:endParaRPr lang="es-ES" sz="2800" b="0" u="none" strike="noStrike">
              <a:solidFill>
                <a:srgbClr val="000000"/>
              </a:solidFill>
              <a:effectLst/>
              <a:uFillTx/>
              <a:latin typeface="Arial"/>
            </a:endParaRPr>
          </a:p>
        </p:txBody>
      </p:sp>
      <p:sp>
        <p:nvSpPr>
          <p:cNvPr id="113"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114" name="Rounded Rectangle 3"/>
          <p:cNvSpPr/>
          <p:nvPr/>
        </p:nvSpPr>
        <p:spPr>
          <a:xfrm>
            <a:off x="731520" y="1463040"/>
            <a:ext cx="5120280" cy="47545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15" name="TextBox 4"/>
          <p:cNvSpPr/>
          <p:nvPr/>
        </p:nvSpPr>
        <p:spPr>
          <a:xfrm>
            <a:off x="914400" y="1645920"/>
            <a:ext cx="4754520" cy="2067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Contexto y Optimización Multimedia</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Arquitectura Efímera: Streamlit Community Cloud opera mediante contenedores lógicos gratuitos que entran en modo de suspensión ante inactividad prolongada.</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Volatilidad Lógica: Al despertarse el entorno se produce una restauración completa que vacía la base de datos local SQLite.</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Métricas de Compresión (Pillow): El procesador de imágenes incorporado realiza una auditoría y compresión que reduce el peso de almacenamiento de las portadas en un promedio del 45%, optimizando drásticamente la memoria en disco.</a:t>
            </a:r>
            <a:endParaRPr lang="es-ES" sz="1100" b="0" u="none" strike="noStrike">
              <a:solidFill>
                <a:srgbClr val="000000"/>
              </a:solidFill>
              <a:effectLst/>
              <a:uFillTx/>
              <a:latin typeface="Arial"/>
            </a:endParaRPr>
          </a:p>
        </p:txBody>
      </p:sp>
      <p:sp>
        <p:nvSpPr>
          <p:cNvPr id="116" name="Rounded Rectangle 5"/>
          <p:cNvSpPr/>
          <p:nvPr/>
        </p:nvSpPr>
        <p:spPr>
          <a:xfrm>
            <a:off x="6309360" y="1463040"/>
            <a:ext cx="5120280" cy="475452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17" name="TextBox 6"/>
          <p:cNvSpPr/>
          <p:nvPr/>
        </p:nvSpPr>
        <p:spPr>
          <a:xfrm>
            <a:off x="6492240" y="1645920"/>
            <a:ext cx="4754520" cy="1900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Estrategia de Mitigación y Eficiencia</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Semillero Automatizado: Inyección dinámica de datos (data seeding) que se activa inmediatamente al detectar que el motor relacional ha sido blanqueado.</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Rendimiento del Seeding: El procedimiento automático completa la lectura, creación de tablas y restauración del usuario evaluador junto con sus doce obras en un tiempo crítico menor a 1.5 segundos.</a:t>
            </a:r>
            <a:endParaRPr lang="es-ES" sz="11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 Experiencia Transparente: Asegura una auditoría plenamente funcional y fluida para el tribunal docente sin demoras en la recarga.</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B"/>
        </a:solidFill>
      </p:bgPr>
    </p:bg>
    <p:spTree>
      <p:nvGrpSpPr>
        <p:cNvPr id="1" name=""/>
        <p:cNvGrpSpPr/>
        <p:nvPr/>
      </p:nvGrpSpPr>
      <p:grpSpPr>
        <a:xfrm>
          <a:off x="0" y="0"/>
          <a:ext cx="0" cy="0"/>
          <a:chOff x="0" y="0"/>
          <a:chExt cx="0" cy="0"/>
        </a:xfrm>
      </p:grpSpPr>
      <p:sp>
        <p:nvSpPr>
          <p:cNvPr id="118" name="TextBox 1"/>
          <p:cNvSpPr/>
          <p:nvPr/>
        </p:nvSpPr>
        <p:spPr>
          <a:xfrm>
            <a:off x="731520" y="365760"/>
            <a:ext cx="107283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s-ES" sz="2800" b="0" u="none" strike="noStrike">
                <a:solidFill>
                  <a:srgbClr val="1E3A5F"/>
                </a:solidFill>
                <a:effectLst/>
                <a:uFillTx/>
                <a:latin typeface="Arial"/>
              </a:rPr>
              <a:t>Próximos Avances y Hoja de Ruta de Escalabilidad</a:t>
            </a:r>
            <a:endParaRPr lang="es-ES" sz="2800" b="0" u="none" strike="noStrike">
              <a:solidFill>
                <a:srgbClr val="000000"/>
              </a:solidFill>
              <a:effectLst/>
              <a:uFillTx/>
              <a:latin typeface="Arial"/>
            </a:endParaRPr>
          </a:p>
        </p:txBody>
      </p:sp>
      <p:sp>
        <p:nvSpPr>
          <p:cNvPr id="119" name="Rectangle 2"/>
          <p:cNvSpPr/>
          <p:nvPr/>
        </p:nvSpPr>
        <p:spPr>
          <a:xfrm>
            <a:off x="731520" y="1097280"/>
            <a:ext cx="10728360" cy="18000"/>
          </a:xfrm>
          <a:prstGeom prst="rect">
            <a:avLst/>
          </a:prstGeom>
          <a:solidFill>
            <a:srgbClr val="B8860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6640" rIns="90000" bIns="-26640" anchor="ctr">
            <a:noAutofit/>
          </a:bodyPr>
          <a:p>
            <a:endParaRPr lang="es-ES" sz="1800" b="0" u="none" strike="noStrike">
              <a:solidFill>
                <a:schemeClr val="lt1"/>
              </a:solidFill>
              <a:effectLst/>
              <a:uFillTx/>
              <a:latin typeface="Calibri"/>
            </a:endParaRPr>
          </a:p>
        </p:txBody>
      </p:sp>
      <p:sp>
        <p:nvSpPr>
          <p:cNvPr id="120" name="Rounded Rectangle 3"/>
          <p:cNvSpPr/>
          <p:nvPr/>
        </p:nvSpPr>
        <p:spPr>
          <a:xfrm>
            <a:off x="731520" y="1463040"/>
            <a:ext cx="5120280" cy="219420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21" name="TextBox 4"/>
          <p:cNvSpPr/>
          <p:nvPr/>
        </p:nvSpPr>
        <p:spPr>
          <a:xfrm>
            <a:off x="914400" y="1645920"/>
            <a:ext cx="4754520" cy="908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Evolución de Datos (Corto Plazo)</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Migración de la persistencia local de SQLite hacia un motor relacional externo administrado y dedicado en la nube (PostgreSQL utilizando servicios como Supabase o Neon).</a:t>
            </a:r>
            <a:endParaRPr lang="es-ES" sz="1100" b="0" u="none" strike="noStrike">
              <a:solidFill>
                <a:srgbClr val="000000"/>
              </a:solidFill>
              <a:effectLst/>
              <a:uFillTx/>
              <a:latin typeface="Arial"/>
            </a:endParaRPr>
          </a:p>
        </p:txBody>
      </p:sp>
      <p:sp>
        <p:nvSpPr>
          <p:cNvPr id="122" name="Rounded Rectangle 5"/>
          <p:cNvSpPr/>
          <p:nvPr/>
        </p:nvSpPr>
        <p:spPr>
          <a:xfrm>
            <a:off x="6309360" y="1463040"/>
            <a:ext cx="5120280" cy="219420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23" name="TextBox 6"/>
          <p:cNvSpPr/>
          <p:nvPr/>
        </p:nvSpPr>
        <p:spPr>
          <a:xfrm>
            <a:off x="6492240" y="1645920"/>
            <a:ext cx="4754520" cy="908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Gestión de Recursos (Medio Plazo)</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Desacoplamiento total de las portadas gráficas subidas mediante un sistema de almacenamiento de objetos independiente (Amazon S3 o Cloudinary) para optimizar el peso del servidor web.</a:t>
            </a:r>
            <a:endParaRPr lang="es-ES" sz="1100" b="0" u="none" strike="noStrike">
              <a:solidFill>
                <a:srgbClr val="000000"/>
              </a:solidFill>
              <a:effectLst/>
              <a:uFillTx/>
              <a:latin typeface="Arial"/>
            </a:endParaRPr>
          </a:p>
        </p:txBody>
      </p:sp>
      <p:sp>
        <p:nvSpPr>
          <p:cNvPr id="124" name="Rounded Rectangle 7"/>
          <p:cNvSpPr/>
          <p:nvPr/>
        </p:nvSpPr>
        <p:spPr>
          <a:xfrm>
            <a:off x="731520" y="3931920"/>
            <a:ext cx="5120280" cy="22856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25" name="TextBox 8"/>
          <p:cNvSpPr/>
          <p:nvPr/>
        </p:nvSpPr>
        <p:spPr>
          <a:xfrm>
            <a:off x="914400" y="4114800"/>
            <a:ext cx="4754520" cy="9086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Canal de Comunicación (Largo Plazo)</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Integración de pasarelas de correo transaccional SMTP reales para flujos automatizados de seguridad, recuperación segura de credenciales y doble factor de autenticación.</a:t>
            </a:r>
            <a:endParaRPr lang="es-ES" sz="1100" b="0" u="none" strike="noStrike">
              <a:solidFill>
                <a:srgbClr val="000000"/>
              </a:solidFill>
              <a:effectLst/>
              <a:uFillTx/>
              <a:latin typeface="Arial"/>
            </a:endParaRPr>
          </a:p>
        </p:txBody>
      </p:sp>
      <p:sp>
        <p:nvSpPr>
          <p:cNvPr id="126" name="Rounded Rectangle 9"/>
          <p:cNvSpPr/>
          <p:nvPr/>
        </p:nvSpPr>
        <p:spPr>
          <a:xfrm>
            <a:off x="6309360" y="3931920"/>
            <a:ext cx="5120280" cy="2285640"/>
          </a:xfrm>
          <a:prstGeom prst="roundRect">
            <a:avLst>
              <a:gd name="adj" fmla="val 16667"/>
            </a:avLst>
          </a:prstGeom>
          <a:solidFill>
            <a:srgbClr val="FFFFFF"/>
          </a:solidFill>
          <a:ln w="12700">
            <a:solidFill>
              <a:srgbClr val="E6D7B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s-ES" sz="1800" b="0" u="none" strike="noStrike">
              <a:solidFill>
                <a:schemeClr val="lt1"/>
              </a:solidFill>
              <a:effectLst/>
              <a:uFillTx/>
              <a:latin typeface="Calibri"/>
            </a:endParaRPr>
          </a:p>
        </p:txBody>
      </p:sp>
      <p:sp>
        <p:nvSpPr>
          <p:cNvPr id="127" name="TextBox 10"/>
          <p:cNvSpPr/>
          <p:nvPr/>
        </p:nvSpPr>
        <p:spPr>
          <a:xfrm>
            <a:off x="6492240" y="4114800"/>
            <a:ext cx="4754520" cy="10764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799"/>
              </a:spcAft>
            </a:pPr>
            <a:r>
              <a:rPr lang="es-ES" sz="1400" b="0" u="none" strike="noStrike">
                <a:solidFill>
                  <a:srgbClr val="1E3A5F"/>
                </a:solidFill>
                <a:effectLst/>
                <a:uFillTx/>
                <a:latin typeface="Arial"/>
              </a:rPr>
              <a:t>Recomendación Inteligente (IA/NLP)</a:t>
            </a:r>
            <a:endParaRPr lang="es-ES" sz="1400" b="0" u="none" strike="noStrike">
              <a:solidFill>
                <a:srgbClr val="000000"/>
              </a:solidFill>
              <a:effectLst/>
              <a:uFillTx/>
              <a:latin typeface="Arial"/>
            </a:endParaRPr>
          </a:p>
          <a:p>
            <a:pPr defTabSz="457200">
              <a:lnSpc>
                <a:spcPct val="100000"/>
              </a:lnSpc>
              <a:spcAft>
                <a:spcPts val="601"/>
              </a:spcAft>
            </a:pPr>
            <a:r>
              <a:rPr lang="es-ES" sz="1100" b="0" u="none" strike="noStrike">
                <a:solidFill>
                  <a:srgbClr val="28323C"/>
                </a:solidFill>
                <a:effectLst/>
                <a:uFillTx/>
                <a:latin typeface="Arial"/>
              </a:rPr>
              <a:t>Alineación con la especialización del máster: Incorporar un recomendador personalizado de lecturas apoyado en Modelos de Lenguaje (LLMs) que analice de forma semántica el historial de intereses y hábitos del lector sobre el catálogo unificado.</a:t>
            </a:r>
            <a:endParaRPr lang="es-E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TotalTime>
  <Application>LibreOffice/26.2.3.2$Linux_X86_64 LibreOffice_project/d4d5ed47b6084125f28d269a5650105d54dde034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es-ES</dc:language>
  <cp:lastModifiedBy/>
  <dcterms:modified xsi:type="dcterms:W3CDTF">2026-06-02T20:44:00Z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