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extBox 1"/>
          <p:cNvSpPr txBox="1"/>
          <p:nvPr/>
        </p:nvSpPr>
        <p:spPr>
          <a:xfrm>
            <a:off x="914400" y="2011680"/>
            <a:ext cx="10362895" cy="3657600"/>
          </a:xfrm>
          <a:prstGeom prst="rect">
            <a:avLst/>
          </a:prstGeom>
          <a:noFill/>
        </p:spPr>
        <p:txBody>
          <a:bodyPr wrap="square">
            <a:spAutoFit/>
          </a:bodyPr>
          <a:lstStyle/>
          <a:p>
            <a:pPr>
              <a:spcAft>
                <a:spcPts val="1400"/>
              </a:spcAft>
              <a:defRPr sz="4600">
                <a:solidFill>
                  <a:srgbClr val="FFFFFF"/>
                </a:solidFill>
                <a:latin typeface="Arial"/>
              </a:defRPr>
            </a:pPr>
            <a:r>
              <a:t>Mi Estantería Digital</a:t>
            </a:r>
          </a:p>
          <a:p>
            <a:pPr>
              <a:spcAft>
                <a:spcPts val="2800"/>
              </a:spcAft>
              <a:defRPr sz="2000">
                <a:solidFill>
                  <a:srgbClr val="B8860B"/>
                </a:solidFill>
                <a:latin typeface="Arial"/>
              </a:defRPr>
            </a:pPr>
            <a:r>
              <a:t>Trabajo Fin de Máster</a:t>
            </a:r>
          </a:p>
          <a:p>
            <a:pPr>
              <a:defRPr sz="1500">
                <a:solidFill>
                  <a:srgbClr val="FFFFFF"/>
                </a:solidFill>
                <a:latin typeface="Arial"/>
              </a:defRPr>
            </a:pPr>
            <a:r>
              <a:t>Alumno: Daniel Barrasa García</a:t>
            </a:r>
            <a:br/>
            <a:r>
              <a:t>Programa: Máster de Desarrollo con Inteligencia Artificial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Seguridad y Acceso</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Credenciales de Evaluación</a:t>
            </a:r>
          </a:p>
          <a:p>
            <a:pPr>
              <a:spcAft>
                <a:spcPts val="600"/>
              </a:spcAft>
              <a:defRPr sz="1100">
                <a:solidFill>
                  <a:srgbClr val="28323C"/>
                </a:solidFill>
                <a:latin typeface="Arial"/>
              </a:defRPr>
            </a:pPr>
            <a:r>
              <a:t>• Dirección web del despliegue oficial en la nube:</a:t>
            </a:r>
            <a:br/>
            <a:r>
              <a:t>  https://mi-estanteria-digital.streamlit.app/</a:t>
            </a:r>
          </a:p>
          <a:p>
            <a:pPr>
              <a:spcAft>
                <a:spcPts val="600"/>
              </a:spcAft>
              <a:defRPr sz="1100">
                <a:solidFill>
                  <a:srgbClr val="28323C"/>
                </a:solidFill>
                <a:latin typeface="Arial"/>
              </a:defRPr>
            </a:pPr>
            <a:r>
              <a:t>• Correo electrónico de inscripción del alumno:</a:t>
            </a:r>
            <a:br/>
            <a:r>
              <a:t>  danibarrasa74@gmail.com</a:t>
            </a:r>
          </a:p>
          <a:p>
            <a:pPr>
              <a:spcAft>
                <a:spcPts val="600"/>
              </a:spcAft>
              <a:defRPr sz="1100">
                <a:solidFill>
                  <a:srgbClr val="28323C"/>
                </a:solidFill>
                <a:latin typeface="Arial"/>
              </a:defRPr>
            </a:pPr>
            <a:r>
              <a:t>• Usuario de pruebas predeterminado:</a:t>
            </a:r>
            <a:br/>
            <a:r>
              <a:t>  profesor</a:t>
            </a:r>
          </a:p>
          <a:p>
            <a:pPr>
              <a:spcAft>
                <a:spcPts val="600"/>
              </a:spcAft>
              <a:defRPr sz="1100">
                <a:solidFill>
                  <a:srgbClr val="28323C"/>
                </a:solidFill>
                <a:latin typeface="Arial"/>
              </a:defRPr>
            </a:pPr>
            <a:r>
              <a:t>• Correo electrónico asociado a la cuenta de pruebas:</a:t>
            </a:r>
            <a:br/>
            <a:r>
              <a:t>  profesor@tfm.com</a:t>
            </a:r>
          </a:p>
          <a:p>
            <a:pPr>
              <a:spcAft>
                <a:spcPts val="600"/>
              </a:spcAft>
              <a:defRPr sz="1100">
                <a:solidFill>
                  <a:srgbClr val="28323C"/>
                </a:solidFill>
                <a:latin typeface="Arial"/>
              </a:defRPr>
            </a:pPr>
            <a:r>
              <a:t>• Contraseña de acceso: no se incluye en el repositorio ni en esta presentación por seguridad. Se indica en el formulario de envío del TFM.</a:t>
            </a:r>
          </a:p>
          <a:p>
            <a:pPr>
              <a:spcAft>
                <a:spcPts val="600"/>
              </a:spcAft>
              <a:defRPr sz="1100">
                <a:solidFill>
                  <a:srgbClr val="28323C"/>
                </a:solidFill>
                <a:latin typeface="Arial"/>
              </a:defRPr>
            </a:pPr>
            <a:r>
              <a:t>• Estado de inicialización: El ecosistema arranca de forma autónoma con esta cuenta y analíticas precargadas en la estantería.</a:t>
            </a:r>
          </a:p>
        </p:txBody>
      </p:sp>
      <p:sp>
        <p:nvSpPr>
          <p:cNvPr id="6" name="Rounded Rectangle 5"/>
          <p:cNvSpPr/>
          <p:nvPr/>
        </p:nvSpPr>
        <p:spPr>
          <a:xfrm>
            <a:off x="630936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Advertencia de Infraestructura</a:t>
            </a:r>
          </a:p>
          <a:p>
            <a:pPr>
              <a:spcAft>
                <a:spcPts val="600"/>
              </a:spcAft>
              <a:defRPr sz="1100">
                <a:solidFill>
                  <a:srgbClr val="28323C"/>
                </a:solidFill>
                <a:latin typeface="Arial"/>
              </a:defRPr>
            </a:pPr>
            <a:r>
              <a:t>• Regeneración de Streamlit: Al alojarse en la capa gratuita de Streamlit Cloud, el servidor entra en hibernación por inactividad y elimina los archivos locales generados.</a:t>
            </a:r>
          </a:p>
          <a:p>
            <a:pPr>
              <a:spcAft>
                <a:spcPts val="600"/>
              </a:spcAft>
              <a:defRPr sz="1100">
                <a:solidFill>
                  <a:srgbClr val="28323C"/>
                </a:solidFill>
                <a:latin typeface="Arial"/>
              </a:defRPr>
            </a:pPr>
            <a:r>
              <a:t>• Mitigación mediante Data Seeding: Se ha programado un sistema de semillero de datos indestructible. Si la aplicación detecta un reinicio del contenedor, levanta en el acto este perfil de usuario junto con los doce libros de muestra para la auditoría.</a:t>
            </a:r>
          </a:p>
          <a:p>
            <a:pPr>
              <a:spcAft>
                <a:spcPts val="600"/>
              </a:spcAft>
              <a:defRPr sz="1100">
                <a:solidFill>
                  <a:srgbClr val="28323C"/>
                </a:solidFill>
                <a:latin typeface="Arial"/>
              </a:defRPr>
            </a:pPr>
            <a:r>
              <a:t>• Comodidad de evaluación: Permite una revisión directa e inmediata sin requerir registros manuales previos por parte del docente.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Naturaleza del Proyecto y Enfoque PMV</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3716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62895" cy="1005840"/>
          </a:xfrm>
          <a:prstGeom prst="rect">
            <a:avLst/>
          </a:prstGeom>
          <a:noFill/>
        </p:spPr>
        <p:txBody>
          <a:bodyPr wrap="square">
            <a:spAutoFit/>
          </a:bodyPr>
          <a:lstStyle/>
          <a:p>
            <a:pPr>
              <a:spcAft>
                <a:spcPts val="800"/>
              </a:spcAft>
              <a:defRPr sz="1400">
                <a:solidFill>
                  <a:srgbClr val="1E3A5F"/>
                </a:solidFill>
                <a:latin typeface="Arial"/>
              </a:defRPr>
            </a:pPr>
            <a:r>
              <a:t>Metodología Asistida por IA</a:t>
            </a:r>
          </a:p>
          <a:p>
            <a:pPr>
              <a:spcAft>
                <a:spcPts val="600"/>
              </a:spcAft>
              <a:defRPr sz="1100">
                <a:solidFill>
                  <a:srgbClr val="28323C"/>
                </a:solidFill>
                <a:latin typeface="Arial"/>
              </a:defRPr>
            </a:pPr>
            <a:r>
              <a:t>Desarrollo basado en el concepto de Producto Mínimo Viable (PMV). Se explotó la Inteligencia Artificial mediante ingeniería de prompts avanzada para acelerar la refactorización de código defensivo, optimizar el aislamiento de transacciones SQL y diseñar las reglas algorítmicas de transición automática.</a:t>
            </a:r>
          </a:p>
        </p:txBody>
      </p:sp>
      <p:sp>
        <p:nvSpPr>
          <p:cNvPr id="6" name="Rounded Rectangle 5"/>
          <p:cNvSpPr/>
          <p:nvPr/>
        </p:nvSpPr>
        <p:spPr>
          <a:xfrm>
            <a:off x="731520" y="3017520"/>
            <a:ext cx="10728655" cy="15544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00400"/>
            <a:ext cx="10362895" cy="1188720"/>
          </a:xfrm>
          <a:prstGeom prst="rect">
            <a:avLst/>
          </a:prstGeom>
          <a:noFill/>
        </p:spPr>
        <p:txBody>
          <a:bodyPr wrap="square">
            <a:spAutoFit/>
          </a:bodyPr>
          <a:lstStyle/>
          <a:p>
            <a:pPr>
              <a:spcAft>
                <a:spcPts val="800"/>
              </a:spcAft>
              <a:defRPr sz="1400">
                <a:solidFill>
                  <a:srgbClr val="1E3A5F"/>
                </a:solidFill>
                <a:latin typeface="Arial"/>
              </a:defRPr>
            </a:pPr>
            <a:r>
              <a:t>Objetivos Estratégicos del Prototipo</a:t>
            </a:r>
          </a:p>
          <a:p>
            <a:pPr>
              <a:spcAft>
                <a:spcPts val="600"/>
              </a:spcAft>
              <a:defRPr sz="1100">
                <a:solidFill>
                  <a:srgbClr val="28323C"/>
                </a:solidFill>
                <a:latin typeface="Arial"/>
              </a:defRPr>
            </a:pPr>
            <a:r>
              <a:t>Validar las dinámicas lógicas de una plataforma de lectura compartida (control de accesos, altas comunes por ISBN, transiciones reactivas de progreso y sumatorios analíticos de rendimiento lector).</a:t>
            </a:r>
          </a:p>
        </p:txBody>
      </p:sp>
      <p:sp>
        <p:nvSpPr>
          <p:cNvPr id="8" name="Rounded Rectangle 7"/>
          <p:cNvSpPr/>
          <p:nvPr/>
        </p:nvSpPr>
        <p:spPr>
          <a:xfrm>
            <a:off x="731520" y="4754880"/>
            <a:ext cx="10728655" cy="146304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937760"/>
            <a:ext cx="10362895" cy="1097280"/>
          </a:xfrm>
          <a:prstGeom prst="rect">
            <a:avLst/>
          </a:prstGeom>
          <a:noFill/>
        </p:spPr>
        <p:txBody>
          <a:bodyPr wrap="square">
            <a:spAutoFit/>
          </a:bodyPr>
          <a:lstStyle/>
          <a:p>
            <a:pPr>
              <a:spcAft>
                <a:spcPts val="800"/>
              </a:spcAft>
              <a:defRPr sz="1400">
                <a:solidFill>
                  <a:srgbClr val="1E3A5F"/>
                </a:solidFill>
                <a:latin typeface="Arial"/>
              </a:defRPr>
            </a:pPr>
            <a:r>
              <a:t>Criterio de Desarrollo de Software</a:t>
            </a:r>
          </a:p>
          <a:p>
            <a:pPr>
              <a:spcAft>
                <a:spcPts val="600"/>
              </a:spcAft>
              <a:defRPr sz="1100">
                <a:solidFill>
                  <a:srgbClr val="28323C"/>
                </a:solidFill>
                <a:latin typeface="Arial"/>
              </a:defRPr>
            </a:pPr>
            <a:r>
              <a:t>Concentración absoluta de esfuerzos en la robustez algorítmica y los mecanismos defensivos de seguridad perimetral, postergando infraestructuras de almacenamiento comercial o escalabilidad masiva para fases de negocio posteriores.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Arquitectura Modular del Software (Separación de Responsabilidades)</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219456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square">
            <a:spAutoFit/>
          </a:bodyPr>
          <a:lstStyle/>
          <a:p>
            <a:pPr>
              <a:spcAft>
                <a:spcPts val="800"/>
              </a:spcAft>
              <a:defRPr sz="1400">
                <a:solidFill>
                  <a:srgbClr val="1E3A5F"/>
                </a:solidFill>
                <a:latin typeface="Arial"/>
              </a:defRPr>
            </a:pPr>
            <a:r>
              <a:t>Capa de Presentación (app.py)</a:t>
            </a:r>
          </a:p>
          <a:p>
            <a:pPr>
              <a:spcAft>
                <a:spcPts val="600"/>
              </a:spcAft>
              <a:defRPr sz="1100">
                <a:solidFill>
                  <a:srgbClr val="28323C"/>
                </a:solidFill>
                <a:latin typeface="Arial"/>
              </a:defRPr>
            </a:pPr>
            <a:r>
              <a:t>Control de la interfaz gráfica, diseño reactivo mediante inyección controlada de estilos avanzados CSS y gestión centralizada del estado de la sesión de navegación web.</a:t>
            </a:r>
          </a:p>
        </p:txBody>
      </p:sp>
      <p:sp>
        <p:nvSpPr>
          <p:cNvPr id="6" name="Rounded Rectangle 5"/>
          <p:cNvSpPr/>
          <p:nvPr/>
        </p:nvSpPr>
        <p:spPr>
          <a:xfrm>
            <a:off x="6309360" y="1463040"/>
            <a:ext cx="5120640" cy="219456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1828800"/>
          </a:xfrm>
          <a:prstGeom prst="rect">
            <a:avLst/>
          </a:prstGeom>
          <a:noFill/>
        </p:spPr>
        <p:txBody>
          <a:bodyPr wrap="square">
            <a:spAutoFit/>
          </a:bodyPr>
          <a:lstStyle/>
          <a:p>
            <a:pPr>
              <a:spcAft>
                <a:spcPts val="800"/>
              </a:spcAft>
              <a:defRPr sz="1400">
                <a:solidFill>
                  <a:srgbClr val="1E3A5F"/>
                </a:solidFill>
                <a:latin typeface="Arial"/>
              </a:defRPr>
            </a:pPr>
            <a:r>
              <a:t>Módulo de Identidades (auth_manager.py)</a:t>
            </a:r>
          </a:p>
          <a:p>
            <a:pPr>
              <a:spcAft>
                <a:spcPts val="600"/>
              </a:spcAft>
              <a:defRPr sz="1100">
                <a:solidFill>
                  <a:srgbClr val="28323C"/>
                </a:solidFill>
                <a:latin typeface="Arial"/>
              </a:defRPr>
            </a:pPr>
            <a:r>
              <a:t>Gestión e inicio de sesión de usuarios, validaciones tipográficas rigurosas alineadas con las recomendaciones OWASP y procesamiento seguro de hashes.</a:t>
            </a:r>
          </a:p>
        </p:txBody>
      </p:sp>
      <p:sp>
        <p:nvSpPr>
          <p:cNvPr id="8" name="Rounded Rectangle 7"/>
          <p:cNvSpPr/>
          <p:nvPr/>
        </p:nvSpPr>
        <p:spPr>
          <a:xfrm>
            <a:off x="731520" y="3931920"/>
            <a:ext cx="5120640" cy="22860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920240"/>
          </a:xfrm>
          <a:prstGeom prst="rect">
            <a:avLst/>
          </a:prstGeom>
          <a:noFill/>
        </p:spPr>
        <p:txBody>
          <a:bodyPr wrap="square">
            <a:spAutoFit/>
          </a:bodyPr>
          <a:lstStyle/>
          <a:p>
            <a:pPr>
              <a:spcAft>
                <a:spcPts val="800"/>
              </a:spcAft>
              <a:defRPr sz="1400">
                <a:solidFill>
                  <a:srgbClr val="1E3A5F"/>
                </a:solidFill>
                <a:latin typeface="Arial"/>
              </a:defRPr>
            </a:pPr>
            <a:r>
              <a:t>Gestor de Persistencia (database_manager.py)</a:t>
            </a:r>
          </a:p>
          <a:p>
            <a:pPr>
              <a:spcAft>
                <a:spcPts val="600"/>
              </a:spcAft>
              <a:defRPr sz="1100">
                <a:solidFill>
                  <a:srgbClr val="28323C"/>
                </a:solidFill>
                <a:latin typeface="Arial"/>
              </a:defRPr>
            </a:pPr>
            <a:r>
              <a:t>Aislamiento total de transacciones e hilos de conexión SQL con la base de datos relacional. Centraliza las consultas de estadísticas, desgloses y el mecanismo de semillero de datos.</a:t>
            </a:r>
          </a:p>
        </p:txBody>
      </p:sp>
      <p:sp>
        <p:nvSpPr>
          <p:cNvPr id="10" name="Rounded Rectangle 9"/>
          <p:cNvSpPr/>
          <p:nvPr/>
        </p:nvSpPr>
        <p:spPr>
          <a:xfrm>
            <a:off x="6309360" y="3931920"/>
            <a:ext cx="5120640" cy="22860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114800"/>
            <a:ext cx="4754880" cy="1920240"/>
          </a:xfrm>
          <a:prstGeom prst="rect">
            <a:avLst/>
          </a:prstGeom>
          <a:noFill/>
        </p:spPr>
        <p:txBody>
          <a:bodyPr wrap="square">
            <a:spAutoFit/>
          </a:bodyPr>
          <a:lstStyle/>
          <a:p>
            <a:pPr>
              <a:spcAft>
                <a:spcPts val="800"/>
              </a:spcAft>
              <a:defRPr sz="1400">
                <a:solidFill>
                  <a:srgbClr val="1E3A5F"/>
                </a:solidFill>
                <a:latin typeface="Arial"/>
              </a:defRPr>
            </a:pPr>
            <a:r>
              <a:t>Componente Transversal (utils.py)</a:t>
            </a:r>
          </a:p>
          <a:p>
            <a:pPr>
              <a:spcAft>
                <a:spcPts val="600"/>
              </a:spcAft>
              <a:defRPr sz="1100">
                <a:solidFill>
                  <a:srgbClr val="28323C"/>
                </a:solidFill>
                <a:latin typeface="Arial"/>
              </a:defRPr>
            </a:pPr>
            <a:r>
              <a:t>Lógica temporal de fechas, algoritmos de validación matemática por suma ponderada para el control de ISBN (10 y 13) y saneamiento binario estricto de subidas multimedia.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Diseño de la Base de Datos (Modelo Relacional Robustecido)</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728655" cy="100584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62895" cy="640080"/>
          </a:xfrm>
          <a:prstGeom prst="rect">
            <a:avLst/>
          </a:prstGeom>
          <a:noFill/>
        </p:spPr>
        <p:txBody>
          <a:bodyPr wrap="square">
            <a:spAutoFit/>
          </a:bodyPr>
          <a:lstStyle/>
          <a:p>
            <a:pPr>
              <a:spcAft>
                <a:spcPts val="800"/>
              </a:spcAft>
              <a:defRPr sz="1400">
                <a:solidFill>
                  <a:srgbClr val="1E3A5F"/>
                </a:solidFill>
                <a:latin typeface="Arial"/>
              </a:defRPr>
            </a:pPr>
            <a:r>
              <a:t>Motor y Justificación Teórica de Diseño</a:t>
            </a:r>
          </a:p>
          <a:p>
            <a:pPr>
              <a:spcAft>
                <a:spcPts val="600"/>
              </a:spcAft>
              <a:defRPr sz="1100">
                <a:solidFill>
                  <a:srgbClr val="28323C"/>
                </a:solidFill>
                <a:latin typeface="Arial"/>
              </a:defRPr>
            </a:pPr>
            <a:r>
              <a:t>Uso de SQLite integrado localmente. Justificación: Se habilitó el control activo de claves foráneas y una normalización estricta para asegurar la consistencia del catálogo global e impedir de forma algorítmica la corrupción de inventario por títulos duplicados.</a:t>
            </a:r>
          </a:p>
        </p:txBody>
      </p:sp>
      <p:sp>
        <p:nvSpPr>
          <p:cNvPr id="6" name="Rounded Rectangle 5"/>
          <p:cNvSpPr/>
          <p:nvPr/>
        </p:nvSpPr>
        <p:spPr>
          <a:xfrm>
            <a:off x="731520" y="2560320"/>
            <a:ext cx="3291840" cy="36576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2926080" cy="3291840"/>
          </a:xfrm>
          <a:prstGeom prst="rect">
            <a:avLst/>
          </a:prstGeom>
          <a:noFill/>
        </p:spPr>
        <p:txBody>
          <a:bodyPr wrap="square">
            <a:spAutoFit/>
          </a:bodyPr>
          <a:lstStyle/>
          <a:p>
            <a:pPr>
              <a:spcAft>
                <a:spcPts val="800"/>
              </a:spcAft>
              <a:defRPr sz="1400">
                <a:solidFill>
                  <a:srgbClr val="1E3A5F"/>
                </a:solidFill>
                <a:latin typeface="Arial"/>
              </a:defRPr>
            </a:pPr>
            <a:r>
              <a:t>Tabla usuarios</a:t>
            </a:r>
          </a:p>
          <a:p>
            <a:pPr>
              <a:spcAft>
                <a:spcPts val="600"/>
              </a:spcAft>
              <a:defRPr sz="1100">
                <a:solidFill>
                  <a:srgbClr val="28323C"/>
                </a:solidFill>
                <a:latin typeface="Arial"/>
              </a:defRPr>
            </a:pPr>
            <a:r>
              <a:t>Entidad independiente encargada de resguardar de forma segura las credenciales de acceso (hashes criptográficos con la librería nativa bcrypt) y las fechas de alta.</a:t>
            </a:r>
          </a:p>
        </p:txBody>
      </p:sp>
      <p:sp>
        <p:nvSpPr>
          <p:cNvPr id="8" name="Rounded Rectangle 7"/>
          <p:cNvSpPr/>
          <p:nvPr/>
        </p:nvSpPr>
        <p:spPr>
          <a:xfrm>
            <a:off x="4389120" y="2560320"/>
            <a:ext cx="3291840" cy="36576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743200"/>
            <a:ext cx="2926080" cy="3291840"/>
          </a:xfrm>
          <a:prstGeom prst="rect">
            <a:avLst/>
          </a:prstGeom>
          <a:noFill/>
        </p:spPr>
        <p:txBody>
          <a:bodyPr wrap="square">
            <a:spAutoFit/>
          </a:bodyPr>
          <a:lstStyle/>
          <a:p>
            <a:pPr>
              <a:spcAft>
                <a:spcPts val="800"/>
              </a:spcAft>
              <a:defRPr sz="1400">
                <a:solidFill>
                  <a:srgbClr val="1E3A5F"/>
                </a:solidFill>
                <a:latin typeface="Arial"/>
              </a:defRPr>
            </a:pPr>
            <a:r>
              <a:t>Tabla libros_comunes</a:t>
            </a:r>
          </a:p>
          <a:p>
            <a:pPr>
              <a:spcAft>
                <a:spcPts val="600"/>
              </a:spcAft>
              <a:defRPr sz="1100">
                <a:solidFill>
                  <a:srgbClr val="28323C"/>
                </a:solidFill>
                <a:latin typeface="Arial"/>
              </a:defRPr>
            </a:pPr>
            <a:r>
              <a:t>Catálogo global indexado mediante restricciones de unicidad sobre los formatos independientes ISBN-10 e ISBN-13, blindando la integridad de las fichas de las obras.</a:t>
            </a:r>
          </a:p>
        </p:txBody>
      </p:sp>
      <p:sp>
        <p:nvSpPr>
          <p:cNvPr id="10" name="Rounded Rectangle 9"/>
          <p:cNvSpPr/>
          <p:nvPr/>
        </p:nvSpPr>
        <p:spPr>
          <a:xfrm>
            <a:off x="8046720" y="2560320"/>
            <a:ext cx="3291840" cy="36576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743200"/>
            <a:ext cx="2926080" cy="3291840"/>
          </a:xfrm>
          <a:prstGeom prst="rect">
            <a:avLst/>
          </a:prstGeom>
          <a:noFill/>
        </p:spPr>
        <p:txBody>
          <a:bodyPr wrap="square">
            <a:spAutoFit/>
          </a:bodyPr>
          <a:lstStyle/>
          <a:p>
            <a:pPr>
              <a:spcAft>
                <a:spcPts val="800"/>
              </a:spcAft>
              <a:defRPr sz="1400">
                <a:solidFill>
                  <a:srgbClr val="1E3A5F"/>
                </a:solidFill>
                <a:latin typeface="Arial"/>
              </a:defRPr>
            </a:pPr>
            <a:r>
              <a:t>Tabla biblioteca_usuario</a:t>
            </a:r>
          </a:p>
          <a:p>
            <a:pPr>
              <a:spcAft>
                <a:spcPts val="600"/>
              </a:spcAft>
              <a:defRPr sz="1100">
                <a:solidFill>
                  <a:srgbClr val="28323C"/>
                </a:solidFill>
                <a:latin typeface="Arial"/>
              </a:defRPr>
            </a:pPr>
            <a:r>
              <a:t>Tabla asociativa muchos a muchos. Asocia de forma exclusiva a cada usuario con sus lecturas, preservando estados de progreso, marcas cronológicas e interrupciones sin alterar el catálogo máster.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Seguridad Nativa y Mitigación de Vulnerabilidades (OWASP)</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10728655" cy="10972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62895" cy="731520"/>
          </a:xfrm>
          <a:prstGeom prst="rect">
            <a:avLst/>
          </a:prstGeom>
          <a:noFill/>
        </p:spPr>
        <p:txBody>
          <a:bodyPr wrap="square">
            <a:spAutoFit/>
          </a:bodyPr>
          <a:lstStyle/>
          <a:p>
            <a:pPr>
              <a:spcAft>
                <a:spcPts val="800"/>
              </a:spcAft>
              <a:defRPr sz="1400">
                <a:solidFill>
                  <a:srgbClr val="1E3A5F"/>
                </a:solidFill>
                <a:latin typeface="Arial"/>
              </a:defRPr>
            </a:pPr>
            <a:r>
              <a:t>Protección Criptográfica</a:t>
            </a:r>
          </a:p>
          <a:p>
            <a:pPr>
              <a:spcAft>
                <a:spcPts val="600"/>
              </a:spcAft>
              <a:defRPr sz="1100">
                <a:solidFill>
                  <a:srgbClr val="28323C"/>
                </a:solidFill>
                <a:latin typeface="Arial"/>
              </a:defRPr>
            </a:pPr>
            <a:r>
              <a:t>Hashing adaptativo de contraseñas utilizando el algoritmo estándar seguro bcrypt ejecutado de manera totalmente nativa en el servidor, eliminando dependencias obsoletas.</a:t>
            </a:r>
          </a:p>
        </p:txBody>
      </p:sp>
      <p:sp>
        <p:nvSpPr>
          <p:cNvPr id="6" name="Rounded Rectangle 5"/>
          <p:cNvSpPr/>
          <p:nvPr/>
        </p:nvSpPr>
        <p:spPr>
          <a:xfrm>
            <a:off x="731520" y="2651760"/>
            <a:ext cx="10728655" cy="10972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34640"/>
            <a:ext cx="10362895" cy="731520"/>
          </a:xfrm>
          <a:prstGeom prst="rect">
            <a:avLst/>
          </a:prstGeom>
          <a:noFill/>
        </p:spPr>
        <p:txBody>
          <a:bodyPr wrap="square">
            <a:spAutoFit/>
          </a:bodyPr>
          <a:lstStyle/>
          <a:p>
            <a:pPr>
              <a:spcAft>
                <a:spcPts val="800"/>
              </a:spcAft>
              <a:defRPr sz="1400">
                <a:solidFill>
                  <a:srgbClr val="1E3A5F"/>
                </a:solidFill>
                <a:latin typeface="Arial"/>
              </a:defRPr>
            </a:pPr>
            <a:r>
              <a:t>Contramedidas contra Ataques de Fuerza Bruta</a:t>
            </a:r>
          </a:p>
          <a:p>
            <a:pPr>
              <a:spcAft>
                <a:spcPts val="600"/>
              </a:spcAft>
              <a:defRPr sz="1100">
                <a:solidFill>
                  <a:srgbClr val="28323C"/>
                </a:solidFill>
                <a:latin typeface="Arial"/>
              </a:defRPr>
            </a:pPr>
            <a:r>
              <a:t>Bloqueo temporal del acceso en memoria durante un periodo de 120 segundos tras acumular un total de cinco fallos de credenciales consecutivos en la misma sesión web.</a:t>
            </a:r>
          </a:p>
        </p:txBody>
      </p:sp>
      <p:sp>
        <p:nvSpPr>
          <p:cNvPr id="8" name="Rounded Rectangle 7"/>
          <p:cNvSpPr/>
          <p:nvPr/>
        </p:nvSpPr>
        <p:spPr>
          <a:xfrm>
            <a:off x="731520" y="3840480"/>
            <a:ext cx="10728655" cy="10972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23360"/>
            <a:ext cx="10362895" cy="731520"/>
          </a:xfrm>
          <a:prstGeom prst="rect">
            <a:avLst/>
          </a:prstGeom>
          <a:noFill/>
        </p:spPr>
        <p:txBody>
          <a:bodyPr wrap="square">
            <a:spAutoFit/>
          </a:bodyPr>
          <a:lstStyle/>
          <a:p>
            <a:pPr>
              <a:spcAft>
                <a:spcPts val="800"/>
              </a:spcAft>
              <a:defRPr sz="1400">
                <a:solidFill>
                  <a:srgbClr val="1E3A5F"/>
                </a:solidFill>
                <a:latin typeface="Arial"/>
              </a:defRPr>
            </a:pPr>
            <a:r>
              <a:t>Integridad de Inventario y Catálogo</a:t>
            </a:r>
          </a:p>
          <a:p>
            <a:pPr>
              <a:spcAft>
                <a:spcPts val="600"/>
              </a:spcAft>
              <a:defRPr sz="1100">
                <a:solidFill>
                  <a:srgbClr val="28323C"/>
                </a:solidFill>
                <a:latin typeface="Arial"/>
              </a:defRPr>
            </a:pPr>
            <a:r>
              <a:t>Validación algorítmica rigurosa de los códigos de barra editoriales mediante operaciones matemáticas de suma ponderada y aritmética de módulos (10 y 11).</a:t>
            </a:r>
          </a:p>
        </p:txBody>
      </p:sp>
      <p:sp>
        <p:nvSpPr>
          <p:cNvPr id="10" name="Rounded Rectangle 9"/>
          <p:cNvSpPr/>
          <p:nvPr/>
        </p:nvSpPr>
        <p:spPr>
          <a:xfrm>
            <a:off x="731520" y="5029200"/>
            <a:ext cx="10728655" cy="118872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212080"/>
            <a:ext cx="10362895" cy="822960"/>
          </a:xfrm>
          <a:prstGeom prst="rect">
            <a:avLst/>
          </a:prstGeom>
          <a:noFill/>
        </p:spPr>
        <p:txBody>
          <a:bodyPr wrap="square">
            <a:spAutoFit/>
          </a:bodyPr>
          <a:lstStyle/>
          <a:p>
            <a:pPr>
              <a:spcAft>
                <a:spcPts val="800"/>
              </a:spcAft>
              <a:defRPr sz="1400">
                <a:solidFill>
                  <a:srgbClr val="1E3A5F"/>
                </a:solidFill>
                <a:latin typeface="Arial"/>
              </a:defRPr>
            </a:pPr>
            <a:r>
              <a:t>Saneamiento de Archivos Multimedia</a:t>
            </a:r>
          </a:p>
          <a:p>
            <a:pPr>
              <a:spcAft>
                <a:spcPts val="600"/>
              </a:spcAft>
              <a:defRPr sz="1100">
                <a:solidFill>
                  <a:srgbClr val="28323C"/>
                </a:solidFill>
                <a:latin typeface="Arial"/>
              </a:defRPr>
            </a:pPr>
            <a:r>
              <a:t>El cargador de portadas audita la firma binaria interna del archivo con Pillow para neutralizar inyecciones de código malicioso camuflado y restringe las rutas para anular ataques de salto de directorio (Path Traversal).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Estrategia de Pruebas y Validación del Software (Testing)</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Pruebas Unitarias Automatizadas</a:t>
            </a:r>
          </a:p>
          <a:p>
            <a:pPr>
              <a:spcAft>
                <a:spcPts val="600"/>
              </a:spcAft>
              <a:defRPr sz="1100">
                <a:solidFill>
                  <a:srgbClr val="28323C"/>
                </a:solidFill>
                <a:latin typeface="Arial"/>
              </a:defRPr>
            </a:pPr>
            <a:r>
              <a:t>• Validación de Reglas de Negocio: Diseño de baterías de pruebas para certificar el correcto funcionamiento de la aritmética de módulos encargada de admitir o rechazar las solicitudes de alta por ISBN.</a:t>
            </a:r>
          </a:p>
          <a:p>
            <a:pPr>
              <a:spcAft>
                <a:spcPts val="600"/>
              </a:spcAft>
              <a:defRPr sz="1100">
                <a:solidFill>
                  <a:srgbClr val="28323C"/>
                </a:solidFill>
                <a:latin typeface="Arial"/>
              </a:defRPr>
            </a:pPr>
            <a:r>
              <a:t>• Control de Concurrencia: Validación del comportamiento de la base de datos relacional frente a hilos de ejecución simultáneos en Streamlit.</a:t>
            </a:r>
          </a:p>
          <a:p>
            <a:pPr>
              <a:spcAft>
                <a:spcPts val="600"/>
              </a:spcAft>
              <a:defRPr sz="1100">
                <a:solidFill>
                  <a:srgbClr val="28323C"/>
                </a:solidFill>
                <a:latin typeface="Arial"/>
              </a:defRPr>
            </a:pPr>
            <a:r>
              <a:t>• Integridad Temporal: Verificación de consistencia lógica en las marcas cronológicas e inyecciones de fechas automáticas tras permutar los estados del libro.</a:t>
            </a:r>
          </a:p>
        </p:txBody>
      </p:sp>
      <p:sp>
        <p:nvSpPr>
          <p:cNvPr id="6" name="Rounded Rectangle 5"/>
          <p:cNvSpPr/>
          <p:nvPr/>
        </p:nvSpPr>
        <p:spPr>
          <a:xfrm>
            <a:off x="630936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Validación de Contramedidas</a:t>
            </a:r>
          </a:p>
          <a:p>
            <a:pPr>
              <a:spcAft>
                <a:spcPts val="600"/>
              </a:spcAft>
              <a:defRPr sz="1100">
                <a:solidFill>
                  <a:srgbClr val="28323C"/>
                </a:solidFill>
                <a:latin typeface="Arial"/>
              </a:defRPr>
            </a:pPr>
            <a:r>
              <a:t>• Auditoría de Bloqueo: Simulación automatizada de ataques de fuerza bruta para comprobar que el disparador congele la autenticación exactamente a los 120 segundos teóricos.</a:t>
            </a:r>
          </a:p>
          <a:p>
            <a:pPr>
              <a:spcAft>
                <a:spcPts val="600"/>
              </a:spcAft>
              <a:defRPr sz="1100">
                <a:solidFill>
                  <a:srgbClr val="28323C"/>
                </a:solidFill>
                <a:latin typeface="Arial"/>
              </a:defRPr>
            </a:pPr>
            <a:r>
              <a:t>• Pruebas de Inyección de Rutas: Evaluación de los filtros defensivos de saneamiento binario aplicados sobre las imágenes subidas.</a:t>
            </a:r>
          </a:p>
          <a:p>
            <a:pPr>
              <a:spcAft>
                <a:spcPts val="600"/>
              </a:spcAft>
              <a:defRPr sz="1100">
                <a:solidFill>
                  <a:srgbClr val="28323C"/>
                </a:solidFill>
                <a:latin typeface="Arial"/>
              </a:defRPr>
            </a:pPr>
            <a:r>
              <a:t>• Robustez Perimetral: Certificación de que el sistema de recuperación segura deniegue la operación si el alias y el correo introducidos no pertenecen al mismo registro.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Limitaciones de Infraestructura y Métricas de Rendimiento</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Contexto y Optimización Multimedia</a:t>
            </a:r>
          </a:p>
          <a:p>
            <a:pPr>
              <a:spcAft>
                <a:spcPts val="600"/>
              </a:spcAft>
              <a:defRPr sz="1100">
                <a:solidFill>
                  <a:srgbClr val="28323C"/>
                </a:solidFill>
                <a:latin typeface="Arial"/>
              </a:defRPr>
            </a:pPr>
            <a:r>
              <a:t>• Arquitectura Efímera: Streamlit Community Cloud opera mediante contenedores lógicos gratuitos que entran en modo de suspensión ante inactividad prolongada.</a:t>
            </a:r>
          </a:p>
          <a:p>
            <a:pPr>
              <a:spcAft>
                <a:spcPts val="600"/>
              </a:spcAft>
              <a:defRPr sz="1100">
                <a:solidFill>
                  <a:srgbClr val="28323C"/>
                </a:solidFill>
                <a:latin typeface="Arial"/>
              </a:defRPr>
            </a:pPr>
            <a:r>
              <a:t>• Volatilidad Lógica: Al despertarse el entorno se produce una restauración completa que vacía la base de datos local SQLite.</a:t>
            </a:r>
          </a:p>
          <a:p>
            <a:pPr>
              <a:spcAft>
                <a:spcPts val="600"/>
              </a:spcAft>
              <a:defRPr sz="1100">
                <a:solidFill>
                  <a:srgbClr val="28323C"/>
                </a:solidFill>
                <a:latin typeface="Arial"/>
              </a:defRPr>
            </a:pPr>
            <a:r>
              <a:t>• Métricas de Compresión (Pillow): El procesador de imágenes incorporado realiza una auditoría y compresión que reduce el peso de almacenamiento de las portadas en un promedio del 45%, optimizando drásticamente la memoria en disco.</a:t>
            </a:r>
          </a:p>
        </p:txBody>
      </p:sp>
      <p:sp>
        <p:nvSpPr>
          <p:cNvPr id="6" name="Rounded Rectangle 5"/>
          <p:cNvSpPr/>
          <p:nvPr/>
        </p:nvSpPr>
        <p:spPr>
          <a:xfrm>
            <a:off x="6309360" y="1463040"/>
            <a:ext cx="5120640" cy="475488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4389120"/>
          </a:xfrm>
          <a:prstGeom prst="rect">
            <a:avLst/>
          </a:prstGeom>
          <a:noFill/>
        </p:spPr>
        <p:txBody>
          <a:bodyPr wrap="square">
            <a:spAutoFit/>
          </a:bodyPr>
          <a:lstStyle/>
          <a:p>
            <a:pPr>
              <a:spcAft>
                <a:spcPts val="800"/>
              </a:spcAft>
              <a:defRPr sz="1400">
                <a:solidFill>
                  <a:srgbClr val="1E3A5F"/>
                </a:solidFill>
                <a:latin typeface="Arial"/>
              </a:defRPr>
            </a:pPr>
            <a:r>
              <a:t>Estrategia de Mitigación y Eficiencia</a:t>
            </a:r>
          </a:p>
          <a:p>
            <a:pPr>
              <a:spcAft>
                <a:spcPts val="600"/>
              </a:spcAft>
              <a:defRPr sz="1100">
                <a:solidFill>
                  <a:srgbClr val="28323C"/>
                </a:solidFill>
                <a:latin typeface="Arial"/>
              </a:defRPr>
            </a:pPr>
            <a:r>
              <a:t>• Semillero Automatizado: Inyección dinámica de datos (data seeding) que se activa inmediatamente al detectar que el motor relacional ha sido blanqueado.</a:t>
            </a:r>
          </a:p>
          <a:p>
            <a:pPr>
              <a:spcAft>
                <a:spcPts val="600"/>
              </a:spcAft>
              <a:defRPr sz="1100">
                <a:solidFill>
                  <a:srgbClr val="28323C"/>
                </a:solidFill>
                <a:latin typeface="Arial"/>
              </a:defRPr>
            </a:pPr>
            <a:r>
              <a:t>• Rendimiento del Seeding: El procedimiento automático completa la lectura, creación de tablas y restauración del usuario evaluador junto con sus doce obras en un tiempo crítico menor a 1.5 segundos.</a:t>
            </a:r>
          </a:p>
          <a:p>
            <a:pPr>
              <a:spcAft>
                <a:spcPts val="600"/>
              </a:spcAft>
              <a:defRPr sz="1100">
                <a:solidFill>
                  <a:srgbClr val="28323C"/>
                </a:solidFill>
                <a:latin typeface="Arial"/>
              </a:defRPr>
            </a:pPr>
            <a:r>
              <a:t>• Experiencia Transparente: Asegura una auditoría plenamente funcional y fluida para el tribunal docente sin demoras en la recarga.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1EB"/>
        </a:solidFill>
        <a:effectLst/>
      </p:bgPr>
    </p:bg>
    <p:spTree>
      <p:nvGrpSpPr>
        <p:cNvPr id="1" name=""/>
        <p:cNvGrpSpPr/>
        <p:nvPr/>
      </p:nvGrpSpPr>
      <p:grpSpPr/>
      <p:sp>
        <p:nvSpPr>
          <p:cNvPr id="2" name="TextBox 1"/>
          <p:cNvSpPr txBox="1"/>
          <p:nvPr/>
        </p:nvSpPr>
        <p:spPr>
          <a:xfrm>
            <a:off x="731520" y="365760"/>
            <a:ext cx="10728655" cy="731520"/>
          </a:xfrm>
          <a:prstGeom prst="rect">
            <a:avLst/>
          </a:prstGeom>
          <a:noFill/>
        </p:spPr>
        <p:txBody>
          <a:bodyPr wrap="square">
            <a:spAutoFit/>
          </a:bodyPr>
          <a:lstStyle/>
          <a:p>
            <a:pPr>
              <a:defRPr sz="2800">
                <a:solidFill>
                  <a:srgbClr val="1E3A5F"/>
                </a:solidFill>
                <a:latin typeface="Arial"/>
              </a:defRPr>
            </a:pPr>
            <a:r>
              <a:t>Próximos Avances y Hoja de Ruta de Escalabilidad</a:t>
            </a:r>
          </a:p>
        </p:txBody>
      </p:sp>
      <p:sp>
        <p:nvSpPr>
          <p:cNvPr id="3" name="Rectangle 2"/>
          <p:cNvSpPr/>
          <p:nvPr/>
        </p:nvSpPr>
        <p:spPr>
          <a:xfrm>
            <a:off x="731520" y="1097280"/>
            <a:ext cx="10728655" cy="18288"/>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120640" cy="219456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1828800"/>
          </a:xfrm>
          <a:prstGeom prst="rect">
            <a:avLst/>
          </a:prstGeom>
          <a:noFill/>
        </p:spPr>
        <p:txBody>
          <a:bodyPr wrap="square">
            <a:spAutoFit/>
          </a:bodyPr>
          <a:lstStyle/>
          <a:p>
            <a:pPr>
              <a:spcAft>
                <a:spcPts val="800"/>
              </a:spcAft>
              <a:defRPr sz="1400">
                <a:solidFill>
                  <a:srgbClr val="1E3A5F"/>
                </a:solidFill>
                <a:latin typeface="Arial"/>
              </a:defRPr>
            </a:pPr>
            <a:r>
              <a:t>Evolución de Datos (Corto Plazo)</a:t>
            </a:r>
          </a:p>
          <a:p>
            <a:pPr>
              <a:spcAft>
                <a:spcPts val="600"/>
              </a:spcAft>
              <a:defRPr sz="1100">
                <a:solidFill>
                  <a:srgbClr val="28323C"/>
                </a:solidFill>
                <a:latin typeface="Arial"/>
              </a:defRPr>
            </a:pPr>
            <a:r>
              <a:t>Migración de la persistencia local de SQLite hacia un motor relacional externo administrado y dedicado en la nube (PostgreSQL utilizando servicios como Supabase o Neon).</a:t>
            </a:r>
          </a:p>
        </p:txBody>
      </p:sp>
      <p:sp>
        <p:nvSpPr>
          <p:cNvPr id="6" name="Rounded Rectangle 5"/>
          <p:cNvSpPr/>
          <p:nvPr/>
        </p:nvSpPr>
        <p:spPr>
          <a:xfrm>
            <a:off x="6309360" y="1463040"/>
            <a:ext cx="5120640" cy="219456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754880" cy="1828800"/>
          </a:xfrm>
          <a:prstGeom prst="rect">
            <a:avLst/>
          </a:prstGeom>
          <a:noFill/>
        </p:spPr>
        <p:txBody>
          <a:bodyPr wrap="square">
            <a:spAutoFit/>
          </a:bodyPr>
          <a:lstStyle/>
          <a:p>
            <a:pPr>
              <a:spcAft>
                <a:spcPts val="800"/>
              </a:spcAft>
              <a:defRPr sz="1400">
                <a:solidFill>
                  <a:srgbClr val="1E3A5F"/>
                </a:solidFill>
                <a:latin typeface="Arial"/>
              </a:defRPr>
            </a:pPr>
            <a:r>
              <a:t>Gestión de Recursos (Medio Plazo)</a:t>
            </a:r>
          </a:p>
          <a:p>
            <a:pPr>
              <a:spcAft>
                <a:spcPts val="600"/>
              </a:spcAft>
              <a:defRPr sz="1100">
                <a:solidFill>
                  <a:srgbClr val="28323C"/>
                </a:solidFill>
                <a:latin typeface="Arial"/>
              </a:defRPr>
            </a:pPr>
            <a:r>
              <a:t>Desacoplamiento total de las portadas gráficas subidas mediante un sistema de almacenamiento de objetos independiente (Amazon S3 o Cloudinary) para optimizar el peso del servidor web.</a:t>
            </a:r>
          </a:p>
        </p:txBody>
      </p:sp>
      <p:sp>
        <p:nvSpPr>
          <p:cNvPr id="8" name="Rounded Rectangle 7"/>
          <p:cNvSpPr/>
          <p:nvPr/>
        </p:nvSpPr>
        <p:spPr>
          <a:xfrm>
            <a:off x="731520" y="3931920"/>
            <a:ext cx="5120640" cy="22860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754880" cy="1920240"/>
          </a:xfrm>
          <a:prstGeom prst="rect">
            <a:avLst/>
          </a:prstGeom>
          <a:noFill/>
        </p:spPr>
        <p:txBody>
          <a:bodyPr wrap="square">
            <a:spAutoFit/>
          </a:bodyPr>
          <a:lstStyle/>
          <a:p>
            <a:pPr>
              <a:spcAft>
                <a:spcPts val="800"/>
              </a:spcAft>
              <a:defRPr sz="1400">
                <a:solidFill>
                  <a:srgbClr val="1E3A5F"/>
                </a:solidFill>
                <a:latin typeface="Arial"/>
              </a:defRPr>
            </a:pPr>
            <a:r>
              <a:t>Canal de Comunicación (Largo Plazo)</a:t>
            </a:r>
          </a:p>
          <a:p>
            <a:pPr>
              <a:spcAft>
                <a:spcPts val="600"/>
              </a:spcAft>
              <a:defRPr sz="1100">
                <a:solidFill>
                  <a:srgbClr val="28323C"/>
                </a:solidFill>
                <a:latin typeface="Arial"/>
              </a:defRPr>
            </a:pPr>
            <a:r>
              <a:t>Integración de pasarelas de correo transaccional SMTP reales para flujos automatizados de seguridad, recuperación segura de credenciales y doble factor de autenticación.</a:t>
            </a:r>
          </a:p>
        </p:txBody>
      </p:sp>
      <p:sp>
        <p:nvSpPr>
          <p:cNvPr id="10" name="Rounded Rectangle 9"/>
          <p:cNvSpPr/>
          <p:nvPr/>
        </p:nvSpPr>
        <p:spPr>
          <a:xfrm>
            <a:off x="6309360" y="3931920"/>
            <a:ext cx="5120640" cy="2286000"/>
          </a:xfrm>
          <a:prstGeom prst="roundRect">
            <a:avLst/>
          </a:prstGeom>
          <a:solidFill>
            <a:srgbClr val="FFFFFF"/>
          </a:solidFill>
          <a:ln w="12700">
            <a:solidFill>
              <a:srgbClr val="E6D7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114800"/>
            <a:ext cx="4754880" cy="1920240"/>
          </a:xfrm>
          <a:prstGeom prst="rect">
            <a:avLst/>
          </a:prstGeom>
          <a:noFill/>
        </p:spPr>
        <p:txBody>
          <a:bodyPr wrap="square">
            <a:spAutoFit/>
          </a:bodyPr>
          <a:lstStyle/>
          <a:p>
            <a:pPr>
              <a:spcAft>
                <a:spcPts val="800"/>
              </a:spcAft>
              <a:defRPr sz="1400">
                <a:solidFill>
                  <a:srgbClr val="1E3A5F"/>
                </a:solidFill>
                <a:latin typeface="Arial"/>
              </a:defRPr>
            </a:pPr>
            <a:r>
              <a:t>Recomendación Inteligente (IA/NLP)</a:t>
            </a:r>
          </a:p>
          <a:p>
            <a:pPr>
              <a:spcAft>
                <a:spcPts val="600"/>
              </a:spcAft>
              <a:defRPr sz="1100">
                <a:solidFill>
                  <a:srgbClr val="28323C"/>
                </a:solidFill>
                <a:latin typeface="Arial"/>
              </a:defRPr>
            </a:pPr>
            <a:r>
              <a:t>Alineación con la especialización del máster: Incorporar un recomendador personalizado de lecturas apoyado en Modelos de Lenguaje (LLMs) que analice de forma semántica el historial de intereses y hábitos del lector sobre el catálogo unificado.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